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for reading the materials. They have been through the memo, the logic, and the numbers. Do not re-pitch. Ask: what stood out? What do you want to start with? If they do not have a preference, guide with the slides. The deck is your cue card — you talk, the slides anchor.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have read this. Anchor it in 30 seconds and move on.
The thesis: AI and robotics compete on all five dimensions of human value. The first four can be done by either humans or machines. The fifth — the constitutive fact that a human is involved — is by definition differentiated. It forces a tiebreaker in threshold loops. Alexandria develops the thing the tiebreaker depends on.
If they push back on the frame: this is the most important conversation. Ask which of the five they think AI will not compete on. Usually resolves fast.
Key nuance: humans still compete on the first four, augmented. The fifth forces the tiebreaker when both meet threshold. Developing z improves both sides — lower cost (better direction, fewer iterations) and higher premium (more developed human, more valued).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anchor — they know this from the memo.
Freedom ($5–10/mo): Own and unify your cognitive profile across every AI. Sovereign, portable, stored on your own files. Zero servers.
Humanity ($15–20/mo): Develop it. The mental gym. Socratic extraction. The examined life as a subscription.
Purpose (Library): Share it. Others query your perspective. Labs access structured cognitive representations.
Emphasis: NOT three separate businesses. Same architecture, same user, different depth. Insurance → mental gym → Library is a natural funnel.
Layer 1 costs near-zero to serve (user’s own AI + storage), so even $5/mo is almost pure margin.
If they want a demo: offer to show the MCP server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meeting. Transition: you have read the logic chain. 44 premises, 11 conclusions. Everything marked settled cannot reasonably be denied. The only conversation is about the 20 assumptions. Which ones do you want to talk through?
Let them drive. For each assumption they raise:
- Breathing room size: the logic is sound, the SIZE is the assumption. Ask how fast they think it closes.
- Regulation: GDPR Articles 13/14 transparency, Article 4(4) profiling. LinkedIn fined €310M in 2024. Cognitive profiling is far more sensitive.
- Non-lab giants: Palm to iPhone, Pebble to Apple Watch. Giants enter proven categories, not unproven ones.
- $5 insurance: Pascal’s Wager. Even half-convinced, $5 is not a close call.
- Mental gym market: therapy, coaching, journaling apps already exist. This is the AI-native version.
- Labs paying for Library: three ways to access cognitive data. Only structured Socratic extraction works. And it requires sovereignty.
- Calibration: the therapist moat. Encrypted parameters compound per-user.
- Apple: acknowledge it. That IS the exit thesis. Acquisition not competition.
Goal: they leave understanding exactly what they are betting on. No hidden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maximally honest.
Defensibility is a cost gradient, not a wall. Primary force: the lock-in disincentive — labs won’t build the thing that makes it easy to leave. Regulation and breach liability reinforce it. On top: (1) Hidden implementation — extraction logic is server-side, a competitor cannot inspect it. (2) Per-user feedback log compounding — the therapist moat, unstructured signal that appreciates with model quality. (3) Non-obvious question — the problem is not trivially obvious to identify.
None is a wall. Together they create a position genuinely hard for labs to occupy.
Additional moats if they ask: Library for Labs network effects, tribe identity (kin mechanic creates social lock-in), structural unkillability ($500/mo burn means the company literally cannot die).
If they ask what stops Apple: nothing, structurally. Giants do not create categories. They enter proven ones. And if Apple builds it — that IS the exit thesis. Acquisition not competition.
The honesty IS the pitch. If you hedge here, they trust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have seen Numbers.xlsx. This is the conversation about assumptions, not a re-presentation.
Key assumptions to discuss:
- 2,000 Sovereignty users Y1 — founding lineage 25 to 75 to 225 to 675 to 2,025 gets there organically
- 8% initial Sov to Examined Life conversion — conservative
- 4% monthly Sovereignty churn — high, which is honest
- 150% YoY growth — aggressive but declining curve
- Cost: $120 company + $280 founder = $400 total monthly burn
The projections are conservative on some axes and optimistic on others. Say so.
The returns look high because the cost base is near-zero.
Even the downside (half base case) is a profitable business. There is no scenario where the investment goes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$50K at ~1% implies a $5M pre-money valuation. Conservative relative to comps: Delphi ($18.7M Series A, Sequoia), Mem0 ($24M, YC), Uare.ai ($10.3M seed) — all building fragments of what Alexandria unifies. None has the full thesis.
The MOM and IRR numbers are a function of the near-zero cost base, not optimistic projections.
The 10x case assumes Alexandria is just a SaaS company with no dataset premium. Even the floor is 9.1x on a $50K check.
If they push on the 20x multiple: it assumes a strategic buyer paying a premium for the Library for Labs dataset and trust infrastructure. That is an assumption.
The downside is not zero — it is 4.6x. The company is still profitable. There is no scenario where the investment goes to zero because the burn is so low.
Why the raise is small: the company does not need the money. It runs on $500/month. The money is a buffer — it lets the founder stay in build mode without friction. The real value of the investment is partnership, not capital. The founder is choosing who to have on the cap table, not filling a round.
Three return paths: subscription growth, Library for Labs B2B, strategic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No technical credentials. No track record. This must be stated plainly because the entire pitch rests on it being irrelevant.
The hard part is philosophical — seeing the problem, understanding what to build, knowing how to do the extraction well. Those are craft and philosophy problems. The engineering was built entirely with AI agents — COO, CTO, CDO, CGO, CFO, CLO — which proves the thesis: one human with philosophical depth and AI leverage.
The company itself is the proof of concept. This deck, the logic chain, the financial model, the live product — all produced by the operating model.
Previously: three years in venture capital. Left because the thesis demanded building, not funding. You understand their side of the table.
If they want a technical co-founder: the engineering is trivial. A lab could rebuild the stack in a week. A technical co-founder solves a problem that does not exist. The philosophy is the differentiator.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ask clearly. Do not apologise for it.
The company does not need the money. It runs on $500 a month. The founder builds regardless.
What $50K goes to: roughly half to brand building (ads, events, merch, community presence — the fuel that gets the kin mechanic flywheel started), and half to founder buffer (SF is tight at $280/month, rent-free does not last forever, this removes friction so the founder focuses on building). Both are real, both are specific.
The kin mechanic is the distribution engine, but engines need fuel. The 25 founding seeds need to come from somewhere. Brand presence creates the top-of-funnel that the kin mechanic then compounds. Near-zero marginal CAC once the flywheel is turning, but modest upfront spend to start and sustain it.
The real value of the investment is partnership. The founder is choosing who to have on the cap table, not filling a round. This is the cheapest entry point that will ever exist into a category where no one is building the full stack.
Every AI investor is spreading bets across crowded categories. Cognitive identity infrastructure has no full-stack competitor. Adjacent companies have raised $60M+ from Sequoia, YC, and a16z. Most AI investments get obsoleted by the next model release. Alexandria is structurally different \u2014 the value is in the data and methodology, not the model capability.
If they want to negotiate terms: be open. But be clear about selectivity. Limited spots. The founder does not need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linger. The a. is the mark. The meeting is over. Thank them. Follow up within 24 hours with a personal note.
If they want to continue talking, this slide stays up as background. Quiet, confident,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645920"/>
            <a:ext cx="7680960" cy="1097280"/>
          </a:xfrm>
          <a:prstGeom prst="rect">
            <a:avLst/>
          </a:prstGeom>
          <a:noFill/>
          <a:ln/>
        </p:spPr>
        <p:txBody>
          <a:bodyPr wrap="square" lIns="0" tIns="0" rIns="0" bIns="0" rtlCol="0" anchor="b"/>
          <a:lstStyle/>
          <a:p>
            <a:pPr algn="l" indent="0" marL="0">
              <a:buNone/>
            </a:pPr>
            <a:r>
              <a:rPr lang="en-US" sz="5200" dirty="0">
                <a:solidFill>
                  <a:srgbClr val="2A2A2A"/>
                </a:solidFill>
                <a:latin typeface="Georgia" pitchFamily="34" charset="0"/>
                <a:ea typeface="Georgia" pitchFamily="34" charset="-122"/>
                <a:cs typeface="Georgia" pitchFamily="34" charset="-120"/>
              </a:rPr>
              <a:t>alexandria.</a:t>
            </a:r>
            <a:endParaRPr lang="en-US" sz="5200" dirty="0"/>
          </a:p>
        </p:txBody>
      </p:sp>
      <p:sp>
        <p:nvSpPr>
          <p:cNvPr id="3" name="Text 1"/>
          <p:cNvSpPr/>
          <p:nvPr/>
        </p:nvSpPr>
        <p:spPr>
          <a:xfrm>
            <a:off x="731520" y="292608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Cognitive identity infrastructure</a:t>
            </a:r>
            <a:endParaRPr lang="en-US" sz="1500" dirty="0"/>
          </a:p>
        </p:txBody>
      </p:sp>
      <p:sp>
        <p:nvSpPr>
          <p:cNvPr id="4" name="Text 2"/>
          <p:cNvSpPr/>
          <p:nvPr/>
        </p:nvSpPr>
        <p:spPr>
          <a:xfrm>
            <a:off x="731520" y="4389120"/>
            <a:ext cx="7680960" cy="365760"/>
          </a:xfrm>
          <a:prstGeom prst="rect">
            <a:avLst/>
          </a:prstGeom>
          <a:noFill/>
          <a:ln/>
        </p:spPr>
        <p:txBody>
          <a:bodyPr wrap="square" lIns="0" tIns="0" rIns="0" bIns="0" rtlCol="0" anchor="b"/>
          <a:lstStyle/>
          <a:p>
            <a:pPr algn="l" indent="0" marL="0">
              <a:buNone/>
            </a:pPr>
            <a:r>
              <a:rPr lang="en-US" sz="1000" dirty="0">
                <a:solidFill>
                  <a:srgbClr val="B0ABA5"/>
                </a:solidFill>
                <a:latin typeface="Calibri" pitchFamily="34" charset="0"/>
                <a:ea typeface="Calibri" pitchFamily="34" charset="-122"/>
                <a:cs typeface="Calibri" pitchFamily="34" charset="-120"/>
              </a:rPr>
              <a:t>Benjamin Mowinckel  ·  benjamin@mowinckel.com  ·  mowinckel.ai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Five dimensions of human value</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Brain  ·  Legs  ·  Hands  ·  Heart  ·  The human itself</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Freedom  ·  Humanity  ·  Purpose</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One product. Three depths. Natural funnel.</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assumptions</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Everything settled cannot reasonably be denied.</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These are the only things worth discussing.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Defensibility — honest</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No single traditional moat.</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Three layers that together create a meaningful head start.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$500/month total burn</a:t>
            </a:r>
            <a:endParaRPr lang="en-US" sz="3600" dirty="0"/>
          </a:p>
        </p:txBody>
      </p:sp>
      <p:sp>
        <p:nvSpPr>
          <p:cNvPr id="3" name="Text 1"/>
          <p:cNvSpPr/>
          <p:nvPr/>
        </p:nvSpPr>
        <p:spPr>
          <a:xfrm>
            <a:off x="731520" y="228600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Break-even at ~80 subscribers  ·  Near-zero marginal CAC  ·  89%+ gross margin by Year 2</a:t>
            </a:r>
            <a:endParaRPr lang="en-US" sz="1500" dirty="0"/>
          </a:p>
        </p:txBody>
      </p:sp>
      <p:sp>
        <p:nvSpPr>
          <p:cNvPr id="4" name="Text 2"/>
          <p:cNvSpPr/>
          <p:nvPr/>
        </p:nvSpPr>
        <p:spPr>
          <a:xfrm>
            <a:off x="731520" y="3017520"/>
            <a:ext cx="7680960" cy="457200"/>
          </a:xfrm>
          <a:prstGeom prst="rect">
            <a:avLst/>
          </a:prstGeom>
          <a:noFill/>
          <a:ln/>
        </p:spPr>
        <p:txBody>
          <a:bodyPr wrap="square" lIns="0" tIns="0" rIns="0" bIns="0" rtlCol="0" anchor="t"/>
          <a:lstStyle/>
          <a:p>
            <a:pPr algn="l" indent="0" marL="0">
              <a:buNone/>
            </a:pPr>
            <a:r>
              <a:rPr lang="en-US" sz="1500" dirty="0">
                <a:solidFill>
                  <a:srgbClr val="8A8580"/>
                </a:solidFill>
                <a:latin typeface="Calibri" pitchFamily="34" charset="0"/>
                <a:ea typeface="Calibri" pitchFamily="34" charset="-122"/>
                <a:cs typeface="Calibri" pitchFamily="34" charset="-120"/>
              </a:rPr>
              <a:t>Y1: $211K rev  ·  Y3: $1.3M  ·  Y5: $4.6M</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09728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$50K at ~1% equity</a:t>
            </a:r>
            <a:endParaRPr lang="en-US" sz="3600" dirty="0"/>
          </a:p>
        </p:txBody>
      </p:sp>
      <p:sp>
        <p:nvSpPr>
          <p:cNvPr id="3" name="Text 1"/>
          <p:cNvSpPr/>
          <p:nvPr/>
        </p:nvSpPr>
        <p:spPr>
          <a:xfrm>
            <a:off x="731520" y="2286000"/>
            <a:ext cx="7680960" cy="109728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10x ARR:  9.1x MOM  ·  56% IRR</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15x ARR:  13.7x MOM  ·  69% IRR</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20x ARR:  18.2x MOM  ·  79% IRR</a:t>
            </a:r>
            <a:endParaRPr lang="en-US" sz="1600" dirty="0"/>
          </a:p>
        </p:txBody>
      </p:sp>
      <p:sp>
        <p:nvSpPr>
          <p:cNvPr id="4" name="Text 2"/>
          <p:cNvSpPr/>
          <p:nvPr/>
        </p:nvSpPr>
        <p:spPr>
          <a:xfrm>
            <a:off x="731520" y="3657600"/>
            <a:ext cx="7680960" cy="457200"/>
          </a:xfrm>
          <a:prstGeom prst="rect">
            <a:avLst/>
          </a:prstGeom>
          <a:noFill/>
          <a:ln/>
        </p:spPr>
        <p:txBody>
          <a:bodyPr wrap="square" lIns="0" tIns="0" rIns="0" bIns="0" rtlCol="0" anchor="t"/>
          <a:lstStyle/>
          <a:p>
            <a:pPr algn="l" indent="0" marL="0">
              <a:buNone/>
            </a:pPr>
            <a:r>
              <a:rPr lang="en-US" sz="1400" dirty="0">
                <a:solidFill>
                  <a:srgbClr val="B0ABA5"/>
                </a:solidFill>
                <a:latin typeface="Calibri" pitchFamily="34" charset="0"/>
                <a:ea typeface="Calibri" pitchFamily="34" charset="-122"/>
                <a:cs typeface="Calibri" pitchFamily="34" charset="-120"/>
              </a:rPr>
              <a:t>Downside — half the base case:  4.6x MOM.  Still profitable.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founder</a:t>
            </a:r>
            <a:endParaRPr lang="en-US" sz="3600" dirty="0"/>
          </a:p>
        </p:txBody>
      </p:sp>
      <p:sp>
        <p:nvSpPr>
          <p:cNvPr id="3" name="Text 1"/>
          <p:cNvSpPr/>
          <p:nvPr/>
        </p:nvSpPr>
        <p:spPr>
          <a:xfrm>
            <a:off x="731520" y="2560320"/>
            <a:ext cx="7680960" cy="45720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The hard part is not technical.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lIns="0" tIns="0" rIns="0" bIns="0" rtlCol="0" anchor="b"/>
          <a:lstStyle/>
          <a:p>
            <a:pPr algn="l" indent="0" marL="0">
              <a:buNone/>
            </a:pPr>
            <a:r>
              <a:rPr lang="en-US" sz="3600" dirty="0">
                <a:solidFill>
                  <a:srgbClr val="2A2A2A"/>
                </a:solidFill>
                <a:latin typeface="Georgia" pitchFamily="34" charset="0"/>
                <a:ea typeface="Georgia" pitchFamily="34" charset="-122"/>
                <a:cs typeface="Georgia" pitchFamily="34" charset="-120"/>
              </a:rPr>
              <a:t>The ask</a:t>
            </a:r>
            <a:endParaRPr lang="en-US" sz="3600" dirty="0"/>
          </a:p>
        </p:txBody>
      </p:sp>
      <p:sp>
        <p:nvSpPr>
          <p:cNvPr id="3" name="Text 1"/>
          <p:cNvSpPr/>
          <p:nvPr/>
        </p:nvSpPr>
        <p:spPr>
          <a:xfrm>
            <a:off x="731520" y="2560320"/>
            <a:ext cx="7680960" cy="731520"/>
          </a:xfrm>
          <a:prstGeom prst="rect">
            <a:avLst/>
          </a:prstGeom>
          <a:noFill/>
          <a:ln/>
        </p:spPr>
        <p:txBody>
          <a:bodyPr wrap="square" lIns="0" tIns="0" rIns="0" bIns="0" rtlCol="0" anchor="t"/>
          <a:lstStyle/>
          <a:p>
            <a:pPr algn="l" indent="0" marL="0">
              <a:buNone/>
            </a:pPr>
            <a:r>
              <a:rPr lang="en-US" sz="1600" dirty="0">
                <a:solidFill>
                  <a:srgbClr val="8A8580"/>
                </a:solidFill>
                <a:latin typeface="Calibri" pitchFamily="34" charset="0"/>
                <a:ea typeface="Calibri" pitchFamily="34" charset="-122"/>
                <a:cs typeface="Calibri" pitchFamily="34" charset="-120"/>
              </a:rPr>
              <a:t>$50K at ~1% equity.</a:t>
            </a:r>
            <a:endParaRPr lang="en-US" sz="1600" dirty="0"/>
          </a:p>
          <a:p>
            <a:pPr algn="l" indent="0" marL="0">
              <a:buNone/>
            </a:pPr>
            <a:r>
              <a:rPr lang="en-US" sz="1600" dirty="0">
                <a:solidFill>
                  <a:srgbClr val="8A8580"/>
                </a:solidFill>
                <a:latin typeface="Calibri" pitchFamily="34" charset="0"/>
                <a:ea typeface="Calibri" pitchFamily="34" charset="-122"/>
                <a:cs typeface="Calibri" pitchFamily="34" charset="-120"/>
              </a:rPr>
              <a:t>I do not need the money. I am choosing a partner.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731520" y="1828800"/>
            <a:ext cx="7680960" cy="1097280"/>
          </a:xfrm>
          <a:prstGeom prst="rect">
            <a:avLst/>
          </a:prstGeom>
          <a:noFill/>
          <a:ln/>
        </p:spPr>
        <p:txBody>
          <a:bodyPr wrap="square" lIns="0" tIns="0" rIns="0" bIns="0" rtlCol="0" anchor="ctr"/>
          <a:lstStyle/>
          <a:p>
            <a:pPr algn="l" indent="0" marL="0">
              <a:buNone/>
            </a:pPr>
            <a:r>
              <a:rPr lang="en-US" sz="5600" dirty="0">
                <a:solidFill>
                  <a:srgbClr val="2A2A2A"/>
                </a:solidFill>
                <a:latin typeface="Georgia" pitchFamily="34" charset="0"/>
                <a:ea typeface="Georgia" pitchFamily="34" charset="-122"/>
                <a:cs typeface="Georgia" pitchFamily="34" charset="-120"/>
              </a:rPr>
              <a:t>a.</a:t>
            </a:r>
            <a:endParaRPr lang="en-US" sz="5600" dirty="0"/>
          </a:p>
        </p:txBody>
      </p:sp>
      <p:sp>
        <p:nvSpPr>
          <p:cNvPr id="3" name="Text 1"/>
          <p:cNvSpPr/>
          <p:nvPr/>
        </p:nvSpPr>
        <p:spPr>
          <a:xfrm>
            <a:off x="731520" y="3200400"/>
            <a:ext cx="7680960" cy="457200"/>
          </a:xfrm>
          <a:prstGeom prst="rect">
            <a:avLst/>
          </a:prstGeom>
          <a:noFill/>
          <a:ln/>
        </p:spPr>
        <p:txBody>
          <a:bodyPr wrap="square" lIns="0" tIns="0" rIns="0" bIns="0" rtlCol="0" anchor="t"/>
          <a:lstStyle/>
          <a:p>
            <a:pPr algn="l" indent="0" marL="0">
              <a:buNone/>
            </a:pPr>
            <a:r>
              <a:rPr lang="en-US" sz="1200" i="1" dirty="0">
                <a:solidFill>
                  <a:srgbClr val="B0ABA5"/>
                </a:solidFill>
                <a:latin typeface="Calibri" pitchFamily="34" charset="0"/>
                <a:ea typeface="Calibri" pitchFamily="34" charset="-122"/>
                <a:cs typeface="Calibri" pitchFamily="34" charset="-120"/>
              </a:rPr>
              <a:t>mentes aeternae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Alexandria — Investor Meeting</dc:title>
  <dc:subject>PptxGenJS Presentation</dc:subject>
  <dc:creator>Benjamin Mowinckel</dc:creator>
  <cp:lastModifiedBy>Benjamin Mowinckel</cp:lastModifiedBy>
  <cp:revision>1</cp:revision>
  <dcterms:created xsi:type="dcterms:W3CDTF">2026-03-15T12:46:24Z</dcterms:created>
  <dcterms:modified xsi:type="dcterms:W3CDTF">2026-03-15T12:46:24Z</dcterms:modified>
</cp:coreProperties>
</file>