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Thank them for reading the materials. Ask what stood out, what they want to dig into. Let them set the initial direction if they want, but be ready to guide with the flow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60-second version of the thesis. They've read it — this is the anchor.
Five dimensions of human value — brain, legs, hands, heart, the human itself. AI and robotics are building competitive alternatives across the first four. The fifth is by definition differentiated — it forces a tiebreaker. Alexandria develops the thing the tiebreaker depends on.
Don't belabour this — if they've read the memo, they know the frame. Just anchor it and move on. If they push back on the frame itself, this is the most important conversation to have — everything downstream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 is not controversial — it is reality. The only way to disagree is to deny the premise. If they accept the premise, everything downstream follows almost inevitably.
Key nuance: the first four don't go to zero. Humans still compete on them — but they need augmentation to reach threshold, and then the fifth property forces the tiebreaker. The human wins if the premium exceeds the cost delta.
If pushback: 'Which of the five do you think AI won't compete on?' Usually this resolves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walkthrough. They've read this — just anchor the three layers and the 'same product, different depth' framing.
Key emphasis: this is NOT three separate businesses. Insurance → mental gym → Library is a natural funnel. Same architecture, same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 natural funnel. User starts by storing their profile, deepens into development, accumulated depth feeds the marketplace. Each step leads naturally to the next.
If they want a demo: offer to show the MCP server live. Constitution building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Logic.pdf comes alive. Walk the chain. The settled premises should cost them no time. The assumptions are the conversation.
Don't present all 44 premises. Hit the highlights: marginal value (settled), breathing room (assumption), non-lab giants won't create categories (assumption), defensibility is three layers not a wall (honest).
The goal: by the end of this section, they understand what they're betting ON (the assumptions) and what they're NOT betting on (the settled premises).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Breathing room is the key concept. Walk them through it slowly. The logic is sound — the SIZE of the breathing room is the assumption. Ask: 'Do you think that's a large gap or a small one? How fast do you think it closes?'
Reinforcement: regulation (GDPR), physical constraint (file too sensitive to host centrally), and the progressive ratchet that makes every step toward sovereignty irreversible for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These are the only things worth discussing.
Ask: 'Which of these do you want to dig into?' Let them drive. For each assumption they challenge, give the honest answer from the reference material.
The settled premises should cost zero time. If they challenge a settled premise, walk them through why it's settled. If they're right that it's actually an assumption, acknowledge it.
Goal: they leave understanding exactly what they're betting on. No hidden risk. No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maximally honest here. If they ask 'what stops Apple?', the answer is: nothing, structurally. Giants don't create categories. They enter proven ones. And if Apple builds it, the response is acquisition not competition — which IS the exit thesis.
The worst case for the competitive objection is the exit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financial model. They've seen Numbers.xlsx — this is the conversation about the assumptions behind the numbers.
Key points: near-zero cost base, break-even at ~150, natural funnel economics, the returns look high because the cost base is near-zero.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model assumptions. Key ones to discuss:
- 2,000 Sovereignty users Y1 — is that realistic? (Founding lineage 25→75→225→675 gets you there organically)
- 8% initial conversion Sov→EL — conservative or optimistic?
- 4% monthly Sovereignty churn — high, which is honest
- 150% YoY growth — aggressive but declining curve
The projections are conservative on some axes and optimistic on others. Say so. The honest answer is: the floor is not zero. The ceiling depends on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 and IRR numbers are real — they're a function of the near-zero cost base, not optimistic projections.
The 10x case assumes Alexandria is just a SaaS company with no dataset premium. Even the floor is a strong return.
If they push on the 20x multiple: it assumes a strategic buyer paying a premium for the Library for Labs dataset and trust infrastructure. That's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personal section. You're sitting across from them. Be honest.
No technical credentials. No track record. The hard part is not technical. The hard part is philosophical. The engineering was built with AI agents — which proves the thesis.
The company itself is the proof of concept. This document was produced by the operating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weaknesses. Some investors will want a technical co-founder. That's a valid concern. The response: the engineering is trivial (a lab could rebuild the stack in a week), so a technical co-founder solves a problem that doesn't exist. The philosophy is the differentiator.
The VC experience is relevant — you understand their side of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Portfolio exposure argument. This is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urgency slide. Not artificial urgency — structural urgency. The compounding argument is real: starting earlier produces a structurally larger dataset at any future point.
If they're hesitant: 'You don't have to decide now. But if you want exposure to this category, there isn't another entry point at this 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Let them drive. Common directions:
- Moats: be maximally honest. Five thin moats, none structural alone.
- Apple risk: acknowledge it. It IS the exit thesis.
- Library bootstrapping: cold start problem. Sovereignty builds Constitutions before the Library needs them.
- 'Why can't a lab just do this?': breathing room + regulation + physical constraint.
- Technical co-founder: the engineering is trivial. Philosophy is the differentiator.
- Timeline: 5-7 years. Patient capital. Not a fast flip.
Don't try to cover everything. Let them ask what matters to them. Answer honestly. The honesty IS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ask clearly. Don't apologise for it. Don't over-explain.
If they ask 'what does the money go to?': speed. Faster user acquisition, faster dataset compounding, targeted engineering hire. The dataset compounds — starting the compounding earlier produces a structurally larger dataset at any future point.
If they want to negotiate terms: be open. The numbers are a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linger. The 'a.' is the mark. The meeting is over. Thank them. Follow up within 24 hours with a personal note.
If they want to continue talking, this slide stays up as background. It's the anchor — quiet, confident,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1645920"/>
            <a:ext cx="7680960" cy="1097280"/>
          </a:xfrm>
          <a:prstGeom prst="rect">
            <a:avLst/>
          </a:prstGeom>
          <a:noFill/>
          <a:ln/>
        </p:spPr>
        <p:txBody>
          <a:bodyPr wrap="square" lIns="0" tIns="0" rIns="0" bIns="0" rtlCol="0" anchor="b"/>
          <a:lstStyle/>
          <a:p>
            <a:pPr algn="l" indent="0" marL="0">
              <a:buNone/>
            </a:pPr>
            <a:r>
              <a:rPr lang="en-US" sz="4800" dirty="0">
                <a:solidFill>
                  <a:srgbClr val="FFFFFF"/>
                </a:solidFill>
                <a:latin typeface="Georgia" pitchFamily="34" charset="0"/>
                <a:ea typeface="Georgia" pitchFamily="34" charset="-122"/>
                <a:cs typeface="Georgia" pitchFamily="34" charset="-120"/>
              </a:rPr>
              <a:t>alexandria.</a:t>
            </a:r>
            <a:endParaRPr lang="en-US" sz="4800" dirty="0"/>
          </a:p>
        </p:txBody>
      </p:sp>
      <p:sp>
        <p:nvSpPr>
          <p:cNvPr id="3" name="Text 1"/>
          <p:cNvSpPr/>
          <p:nvPr/>
        </p:nvSpPr>
        <p:spPr>
          <a:xfrm>
            <a:off x="731520" y="2926080"/>
            <a:ext cx="7680960" cy="548640"/>
          </a:xfrm>
          <a:prstGeom prst="rect">
            <a:avLst/>
          </a:prstGeom>
          <a:noFill/>
          <a:ln/>
        </p:spPr>
        <p:txBody>
          <a:bodyPr wrap="square" lIns="0" tIns="0" rIns="0" bIns="0" rtlCol="0" anchor="t"/>
          <a:lstStyle/>
          <a:p>
            <a:pPr algn="l" indent="0" marL="0">
              <a:buNone/>
            </a:pPr>
            <a:r>
              <a:rPr lang="en-US" sz="1600" dirty="0">
                <a:solidFill>
                  <a:srgbClr val="999999"/>
                </a:solidFill>
                <a:latin typeface="Calibri" pitchFamily="34" charset="0"/>
                <a:ea typeface="Calibri" pitchFamily="34" charset="-122"/>
                <a:cs typeface="Calibri" pitchFamily="34" charset="-120"/>
              </a:rPr>
              <a:t>Cognitive identity infrastructure</a:t>
            </a:r>
            <a:endParaRPr lang="en-US" sz="1600" dirty="0"/>
          </a:p>
        </p:txBody>
      </p:sp>
      <p:sp>
        <p:nvSpPr>
          <p:cNvPr id="4" name="Text 2"/>
          <p:cNvSpPr/>
          <p:nvPr/>
        </p:nvSpPr>
        <p:spPr>
          <a:xfrm>
            <a:off x="731520" y="4389120"/>
            <a:ext cx="7680960" cy="365760"/>
          </a:xfrm>
          <a:prstGeom prst="rect">
            <a:avLst/>
          </a:prstGeom>
          <a:noFill/>
          <a:ln/>
        </p:spPr>
        <p:txBody>
          <a:bodyPr wrap="square" lIns="0" tIns="0" rIns="0" bIns="0" rtlCol="0" anchor="b"/>
          <a:lstStyle/>
          <a:p>
            <a:pPr algn="l" indent="0" marL="0">
              <a:buNone/>
            </a:pPr>
            <a:r>
              <a:rPr lang="en-US" sz="1100" dirty="0">
                <a:solidFill>
                  <a:srgbClr val="999999"/>
                </a:solidFill>
                <a:latin typeface="Calibri" pitchFamily="34" charset="0"/>
                <a:ea typeface="Calibri" pitchFamily="34" charset="-122"/>
                <a:cs typeface="Calibri" pitchFamily="34" charset="-120"/>
              </a:rPr>
              <a:t>Benjamin Mowinckel  ·  benjamin@mowinckel.com  ·  mowinckel.ai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1097280"/>
            <a:ext cx="914400" cy="731520"/>
          </a:xfrm>
          <a:prstGeom prst="rect">
            <a:avLst/>
          </a:prstGeom>
          <a:noFill/>
          <a:ln/>
        </p:spPr>
        <p:txBody>
          <a:bodyPr wrap="square" lIns="0" tIns="0" rIns="0" bIns="0" rtlCol="0" anchor="b"/>
          <a:lstStyle/>
          <a:p>
            <a:pPr algn="l" indent="0" marL="0">
              <a:buNone/>
            </a:pPr>
            <a:r>
              <a:rPr lang="en-US" sz="1400" dirty="0">
                <a:solidFill>
                  <a:srgbClr val="999999"/>
                </a:solidFill>
                <a:latin typeface="Calibri" pitchFamily="34" charset="0"/>
                <a:ea typeface="Calibri" pitchFamily="34" charset="-122"/>
                <a:cs typeface="Calibri" pitchFamily="34" charset="-120"/>
              </a:rPr>
              <a:t>01</a:t>
            </a:r>
            <a:endParaRPr lang="en-US" sz="1400" dirty="0"/>
          </a:p>
        </p:txBody>
      </p:sp>
      <p:sp>
        <p:nvSpPr>
          <p:cNvPr id="3" name="Text 1"/>
          <p:cNvSpPr/>
          <p:nvPr/>
        </p:nvSpPr>
        <p:spPr>
          <a:xfrm>
            <a:off x="731520" y="1828800"/>
            <a:ext cx="7680960" cy="1097280"/>
          </a:xfrm>
          <a:prstGeom prst="rect">
            <a:avLst/>
          </a:prstGeom>
          <a:noFill/>
          <a:ln/>
        </p:spPr>
        <p:txBody>
          <a:bodyPr wrap="square" lIns="0" tIns="0" rIns="0" bIns="0" rtlCol="0" anchor="t"/>
          <a:lstStyle/>
          <a:p>
            <a:pPr algn="l" indent="0" marL="0">
              <a:buNone/>
            </a:pPr>
            <a:r>
              <a:rPr lang="en-US" sz="3600" dirty="0">
                <a:solidFill>
                  <a:srgbClr val="FFFFFF"/>
                </a:solidFill>
                <a:latin typeface="Georgia" pitchFamily="34" charset="0"/>
                <a:ea typeface="Georgia" pitchFamily="34" charset="-122"/>
                <a:cs typeface="Georgia" pitchFamily="34" charset="-120"/>
              </a:rPr>
              <a:t>The frame</a:t>
            </a:r>
            <a:endParaRPr lang="en-US" sz="3600" dirty="0"/>
          </a:p>
        </p:txBody>
      </p:sp>
      <p:sp>
        <p:nvSpPr>
          <p:cNvPr id="4" name="Text 2"/>
          <p:cNvSpPr/>
          <p:nvPr/>
        </p:nvSpPr>
        <p:spPr>
          <a:xfrm>
            <a:off x="731520" y="4114800"/>
            <a:ext cx="7680960" cy="457200"/>
          </a:xfrm>
          <a:prstGeom prst="rect">
            <a:avLst/>
          </a:prstGeom>
          <a:noFill/>
          <a:ln/>
        </p:spPr>
        <p:txBody>
          <a:bodyPr wrap="square" lIns="0" tIns="0" rIns="0" bIns="0" rtlCol="0" anchor="b"/>
          <a:lstStyle/>
          <a:p>
            <a:pPr algn="l" indent="0" marL="0">
              <a:buNone/>
            </a:pPr>
            <a:r>
              <a:rPr lang="en-US" sz="1200" dirty="0">
                <a:solidFill>
                  <a:srgbClr val="999999"/>
                </a:solidFill>
                <a:latin typeface="Calibri" pitchFamily="34" charset="0"/>
                <a:ea typeface="Calibri" pitchFamily="34" charset="-122"/>
                <a:cs typeface="Calibri" pitchFamily="34" charset="-120"/>
              </a:rPr>
              <a:t>~3 minutes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b"/>
          <a:lstStyle/>
          <a:p>
            <a:pPr algn="l" indent="0" marL="0">
              <a:buNone/>
            </a:pPr>
            <a:r>
              <a:rPr lang="en-US" sz="2800" dirty="0">
                <a:solidFill>
                  <a:srgbClr val="1A1A1A"/>
                </a:solidFill>
                <a:latin typeface="Georgia" pitchFamily="34" charset="0"/>
                <a:ea typeface="Georgia" pitchFamily="34" charset="-122"/>
                <a:cs typeface="Georgia" pitchFamily="34" charset="-120"/>
              </a:rPr>
              <a:t>Five dimensions of human value</a:t>
            </a:r>
            <a:endParaRPr lang="en-US" sz="2800" dirty="0"/>
          </a:p>
        </p:txBody>
      </p:sp>
      <p:sp>
        <p:nvSpPr>
          <p:cNvPr id="3" name="Shape 1"/>
          <p:cNvSpPr/>
          <p:nvPr/>
        </p:nvSpPr>
        <p:spPr>
          <a:xfrm>
            <a:off x="731520" y="1097280"/>
            <a:ext cx="1828800" cy="0"/>
          </a:xfrm>
          <a:prstGeom prst="line">
            <a:avLst/>
          </a:prstGeom>
          <a:noFill/>
          <a:ln w="6350">
            <a:solidFill>
              <a:srgbClr val="999999"/>
            </a:solidFill>
            <a:prstDash val="solid"/>
          </a:ln>
        </p:spPr>
      </p:sp>
      <p:sp>
        <p:nvSpPr>
          <p:cNvPr id="4" name="Text 2"/>
          <p:cNvSpPr/>
          <p:nvPr/>
        </p:nvSpPr>
        <p:spPr>
          <a:xfrm>
            <a:off x="731520" y="1371600"/>
            <a:ext cx="7680960" cy="3200400"/>
          </a:xfrm>
          <a:prstGeom prst="rect">
            <a:avLst/>
          </a:prstGeom>
          <a:noFill/>
          <a:ln/>
        </p:spPr>
        <p:txBody>
          <a:bodyPr wrap="square" lIns="0" tIns="0" rIns="0" bIns="0" rtlCol="0" anchor="t"/>
          <a:lstStyle/>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Brain  ·  Legs  ·  Hands  ·  Heart  ·  The human itself</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AI and robotics are building competitive alternatives across the first four.</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The fifth — the constitutive fact that a human is involved — is by definition differentiated.</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It forces a tiebreaker. Alexandria develops the thing the tiebreaker depends 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1097280"/>
            <a:ext cx="914400" cy="731520"/>
          </a:xfrm>
          <a:prstGeom prst="rect">
            <a:avLst/>
          </a:prstGeom>
          <a:noFill/>
          <a:ln/>
        </p:spPr>
        <p:txBody>
          <a:bodyPr wrap="square" lIns="0" tIns="0" rIns="0" bIns="0" rtlCol="0" anchor="b"/>
          <a:lstStyle/>
          <a:p>
            <a:pPr algn="l" indent="0" marL="0">
              <a:buNone/>
            </a:pPr>
            <a:r>
              <a:rPr lang="en-US" sz="1400" dirty="0">
                <a:solidFill>
                  <a:srgbClr val="999999"/>
                </a:solidFill>
                <a:latin typeface="Calibri" pitchFamily="34" charset="0"/>
                <a:ea typeface="Calibri" pitchFamily="34" charset="-122"/>
                <a:cs typeface="Calibri" pitchFamily="34" charset="-120"/>
              </a:rPr>
              <a:t>02</a:t>
            </a:r>
            <a:endParaRPr lang="en-US" sz="1400" dirty="0"/>
          </a:p>
        </p:txBody>
      </p:sp>
      <p:sp>
        <p:nvSpPr>
          <p:cNvPr id="3" name="Text 1"/>
          <p:cNvSpPr/>
          <p:nvPr/>
        </p:nvSpPr>
        <p:spPr>
          <a:xfrm>
            <a:off x="731520" y="1828800"/>
            <a:ext cx="7680960" cy="1097280"/>
          </a:xfrm>
          <a:prstGeom prst="rect">
            <a:avLst/>
          </a:prstGeom>
          <a:noFill/>
          <a:ln/>
        </p:spPr>
        <p:txBody>
          <a:bodyPr wrap="square" lIns="0" tIns="0" rIns="0" bIns="0" rtlCol="0" anchor="t"/>
          <a:lstStyle/>
          <a:p>
            <a:pPr algn="l" indent="0" marL="0">
              <a:buNone/>
            </a:pPr>
            <a:r>
              <a:rPr lang="en-US" sz="3600" dirty="0">
                <a:solidFill>
                  <a:srgbClr val="FFFFFF"/>
                </a:solidFill>
                <a:latin typeface="Georgia" pitchFamily="34" charset="0"/>
                <a:ea typeface="Georgia" pitchFamily="34" charset="-122"/>
                <a:cs typeface="Georgia" pitchFamily="34" charset="-120"/>
              </a:rPr>
              <a:t>The product</a:t>
            </a:r>
            <a:endParaRPr lang="en-US" sz="3600" dirty="0"/>
          </a:p>
        </p:txBody>
      </p:sp>
      <p:sp>
        <p:nvSpPr>
          <p:cNvPr id="4" name="Text 2"/>
          <p:cNvSpPr/>
          <p:nvPr/>
        </p:nvSpPr>
        <p:spPr>
          <a:xfrm>
            <a:off x="731520" y="4114800"/>
            <a:ext cx="7680960" cy="457200"/>
          </a:xfrm>
          <a:prstGeom prst="rect">
            <a:avLst/>
          </a:prstGeom>
          <a:noFill/>
          <a:ln/>
        </p:spPr>
        <p:txBody>
          <a:bodyPr wrap="square" lIns="0" tIns="0" rIns="0" bIns="0" rtlCol="0" anchor="b"/>
          <a:lstStyle/>
          <a:p>
            <a:pPr algn="l" indent="0" marL="0">
              <a:buNone/>
            </a:pPr>
            <a:r>
              <a:rPr lang="en-US" sz="1200" dirty="0">
                <a:solidFill>
                  <a:srgbClr val="999999"/>
                </a:solidFill>
                <a:latin typeface="Calibri" pitchFamily="34" charset="0"/>
                <a:ea typeface="Calibri" pitchFamily="34" charset="-122"/>
                <a:cs typeface="Calibri" pitchFamily="34" charset="-120"/>
              </a:rPr>
              <a:t>~3 minutes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b"/>
          <a:lstStyle/>
          <a:p>
            <a:pPr algn="l" indent="0" marL="0">
              <a:buNone/>
            </a:pPr>
            <a:r>
              <a:rPr lang="en-US" sz="2800" dirty="0">
                <a:solidFill>
                  <a:srgbClr val="1A1A1A"/>
                </a:solidFill>
                <a:latin typeface="Georgia" pitchFamily="34" charset="0"/>
                <a:ea typeface="Georgia" pitchFamily="34" charset="-122"/>
                <a:cs typeface="Georgia" pitchFamily="34" charset="-120"/>
              </a:rPr>
              <a:t>One connector. Three layers. Same product.</a:t>
            </a:r>
            <a:endParaRPr lang="en-US" sz="2800" dirty="0"/>
          </a:p>
        </p:txBody>
      </p:sp>
      <p:sp>
        <p:nvSpPr>
          <p:cNvPr id="3" name="Shape 1"/>
          <p:cNvSpPr/>
          <p:nvPr/>
        </p:nvSpPr>
        <p:spPr>
          <a:xfrm>
            <a:off x="731520" y="1097280"/>
            <a:ext cx="1828800" cy="0"/>
          </a:xfrm>
          <a:prstGeom prst="line">
            <a:avLst/>
          </a:prstGeom>
          <a:noFill/>
          <a:ln w="6350">
            <a:solidFill>
              <a:srgbClr val="999999"/>
            </a:solidFill>
            <a:prstDash val="solid"/>
          </a:ln>
        </p:spPr>
      </p:sp>
      <p:sp>
        <p:nvSpPr>
          <p:cNvPr id="4" name="Text 2"/>
          <p:cNvSpPr/>
          <p:nvPr/>
        </p:nvSpPr>
        <p:spPr>
          <a:xfrm>
            <a:off x="731520" y="1371600"/>
            <a:ext cx="7680960" cy="3200400"/>
          </a:xfrm>
          <a:prstGeom prst="rect">
            <a:avLst/>
          </a:prstGeom>
          <a:noFill/>
          <a:ln/>
        </p:spPr>
        <p:txBody>
          <a:bodyPr wrap="square" lIns="0" tIns="0" rIns="0" bIns="0" rtlCol="0" anchor="t"/>
          <a:lstStyle/>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Layer 1 — AI Insurance ($5-10/mo)</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Sovereign portable copy of your cognitive profile. Zero servers. Near-zero cost.</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Layer 2 — The Mental Gym ($15-20/mo)</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Active cognitive development. The examined life as a subscription.</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Layer 3 — The Library for Labs</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Opt-in marketplace of structured cognitive representations.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1097280"/>
            <a:ext cx="914400" cy="731520"/>
          </a:xfrm>
          <a:prstGeom prst="rect">
            <a:avLst/>
          </a:prstGeom>
          <a:noFill/>
          <a:ln/>
        </p:spPr>
        <p:txBody>
          <a:bodyPr wrap="square" lIns="0" tIns="0" rIns="0" bIns="0" rtlCol="0" anchor="b"/>
          <a:lstStyle/>
          <a:p>
            <a:pPr algn="l" indent="0" marL="0">
              <a:buNone/>
            </a:pPr>
            <a:r>
              <a:rPr lang="en-US" sz="1400" dirty="0">
                <a:solidFill>
                  <a:srgbClr val="999999"/>
                </a:solidFill>
                <a:latin typeface="Calibri" pitchFamily="34" charset="0"/>
                <a:ea typeface="Calibri" pitchFamily="34" charset="-122"/>
                <a:cs typeface="Calibri" pitchFamily="34" charset="-120"/>
              </a:rPr>
              <a:t>03</a:t>
            </a:r>
            <a:endParaRPr lang="en-US" sz="1400" dirty="0"/>
          </a:p>
        </p:txBody>
      </p:sp>
      <p:sp>
        <p:nvSpPr>
          <p:cNvPr id="3" name="Text 1"/>
          <p:cNvSpPr/>
          <p:nvPr/>
        </p:nvSpPr>
        <p:spPr>
          <a:xfrm>
            <a:off x="731520" y="1828800"/>
            <a:ext cx="7680960" cy="1097280"/>
          </a:xfrm>
          <a:prstGeom prst="rect">
            <a:avLst/>
          </a:prstGeom>
          <a:noFill/>
          <a:ln/>
        </p:spPr>
        <p:txBody>
          <a:bodyPr wrap="square" lIns="0" tIns="0" rIns="0" bIns="0" rtlCol="0" anchor="t"/>
          <a:lstStyle/>
          <a:p>
            <a:pPr algn="l" indent="0" marL="0">
              <a:buNone/>
            </a:pPr>
            <a:r>
              <a:rPr lang="en-US" sz="3600" dirty="0">
                <a:solidFill>
                  <a:srgbClr val="FFFFFF"/>
                </a:solidFill>
                <a:latin typeface="Georgia" pitchFamily="34" charset="0"/>
                <a:ea typeface="Georgia" pitchFamily="34" charset="-122"/>
                <a:cs typeface="Georgia" pitchFamily="34" charset="-120"/>
              </a:rPr>
              <a:t>The argument</a:t>
            </a:r>
            <a:endParaRPr lang="en-US" sz="3600" dirty="0"/>
          </a:p>
        </p:txBody>
      </p:sp>
      <p:sp>
        <p:nvSpPr>
          <p:cNvPr id="4" name="Text 2"/>
          <p:cNvSpPr/>
          <p:nvPr/>
        </p:nvSpPr>
        <p:spPr>
          <a:xfrm>
            <a:off x="731520" y="4114800"/>
            <a:ext cx="7680960" cy="457200"/>
          </a:xfrm>
          <a:prstGeom prst="rect">
            <a:avLst/>
          </a:prstGeom>
          <a:noFill/>
          <a:ln/>
        </p:spPr>
        <p:txBody>
          <a:bodyPr wrap="square" lIns="0" tIns="0" rIns="0" bIns="0" rtlCol="0" anchor="b"/>
          <a:lstStyle/>
          <a:p>
            <a:pPr algn="l" indent="0" marL="0">
              <a:buNone/>
            </a:pPr>
            <a:r>
              <a:rPr lang="en-US" sz="1200" dirty="0">
                <a:solidFill>
                  <a:srgbClr val="999999"/>
                </a:solidFill>
                <a:latin typeface="Calibri" pitchFamily="34" charset="0"/>
                <a:ea typeface="Calibri" pitchFamily="34" charset="-122"/>
                <a:cs typeface="Calibri" pitchFamily="34" charset="-120"/>
              </a:rPr>
              <a:t>~8 minutes — the core of the meeting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b"/>
          <a:lstStyle/>
          <a:p>
            <a:pPr algn="l" indent="0" marL="0">
              <a:buNone/>
            </a:pPr>
            <a:r>
              <a:rPr lang="en-US" sz="2800" dirty="0">
                <a:solidFill>
                  <a:srgbClr val="1A1A1A"/>
                </a:solidFill>
                <a:latin typeface="Georgia" pitchFamily="34" charset="0"/>
                <a:ea typeface="Georgia" pitchFamily="34" charset="-122"/>
                <a:cs typeface="Georgia" pitchFamily="34" charset="-120"/>
              </a:rPr>
              <a:t>Why labs don't do this</a:t>
            </a:r>
            <a:endParaRPr lang="en-US" sz="2800" dirty="0"/>
          </a:p>
        </p:txBody>
      </p:sp>
      <p:sp>
        <p:nvSpPr>
          <p:cNvPr id="3" name="Shape 1"/>
          <p:cNvSpPr/>
          <p:nvPr/>
        </p:nvSpPr>
        <p:spPr>
          <a:xfrm>
            <a:off x="731520" y="1097280"/>
            <a:ext cx="1828800" cy="0"/>
          </a:xfrm>
          <a:prstGeom prst="line">
            <a:avLst/>
          </a:prstGeom>
          <a:noFill/>
          <a:ln w="6350">
            <a:solidFill>
              <a:srgbClr val="999999"/>
            </a:solidFill>
            <a:prstDash val="solid"/>
          </a:ln>
        </p:spPr>
      </p:sp>
      <p:sp>
        <p:nvSpPr>
          <p:cNvPr id="4" name="Text 2"/>
          <p:cNvSpPr/>
          <p:nvPr/>
        </p:nvSpPr>
        <p:spPr>
          <a:xfrm>
            <a:off x="731520" y="1371600"/>
            <a:ext cx="7680960" cy="3200400"/>
          </a:xfrm>
          <a:prstGeom prst="rect">
            <a:avLst/>
          </a:prstGeom>
          <a:noFill/>
          <a:ln/>
        </p:spPr>
        <p:txBody>
          <a:bodyPr wrap="square" lIns="0" tIns="0" rIns="0" bIns="0" rtlCol="0" anchor="t"/>
          <a:lstStyle/>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A structured portable profile has clear marginal value.  (Settled.)</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No lab currently offers one.  (Settled. Verifiable today.)</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The cost: portable personal data is the opposite of lock-in.</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The value must cross a threshold before a lab would rationally accept the cost.</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Currently it does not.</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That threshold gap is breathing room.</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The breathing room is Alexandria's runway.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b"/>
          <a:lstStyle/>
          <a:p>
            <a:pPr algn="l" indent="0" marL="0">
              <a:buNone/>
            </a:pPr>
            <a:r>
              <a:rPr lang="en-US" sz="2800" dirty="0">
                <a:solidFill>
                  <a:srgbClr val="1A1A1A"/>
                </a:solidFill>
                <a:latin typeface="Georgia" pitchFamily="34" charset="0"/>
                <a:ea typeface="Georgia" pitchFamily="34" charset="-122"/>
                <a:cs typeface="Georgia" pitchFamily="34" charset="-120"/>
              </a:rPr>
              <a:t>The assumptions</a:t>
            </a:r>
            <a:endParaRPr lang="en-US" sz="2800" dirty="0"/>
          </a:p>
        </p:txBody>
      </p:sp>
      <p:sp>
        <p:nvSpPr>
          <p:cNvPr id="3" name="Shape 1"/>
          <p:cNvSpPr/>
          <p:nvPr/>
        </p:nvSpPr>
        <p:spPr>
          <a:xfrm>
            <a:off x="731520" y="1097280"/>
            <a:ext cx="1828800" cy="0"/>
          </a:xfrm>
          <a:prstGeom prst="line">
            <a:avLst/>
          </a:prstGeom>
          <a:noFill/>
          <a:ln w="6350">
            <a:solidFill>
              <a:srgbClr val="999999"/>
            </a:solidFill>
            <a:prstDash val="solid"/>
          </a:ln>
        </p:spPr>
      </p:sp>
      <p:sp>
        <p:nvSpPr>
          <p:cNvPr id="4" name="Text 2"/>
          <p:cNvSpPr/>
          <p:nvPr/>
        </p:nvSpPr>
        <p:spPr>
          <a:xfrm>
            <a:off x="731520" y="1280160"/>
            <a:ext cx="7680960" cy="457200"/>
          </a:xfrm>
          <a:prstGeom prst="rect">
            <a:avLst/>
          </a:prstGeom>
          <a:noFill/>
          <a:ln/>
        </p:spPr>
        <p:txBody>
          <a:bodyPr wrap="square" lIns="0" tIns="0" rIns="0" bIns="0" rtlCol="0" anchor="ctr"/>
          <a:lstStyle/>
          <a:p>
            <a:pPr indent="0" marL="0">
              <a:buNone/>
            </a:pPr>
            <a:r>
              <a:rPr lang="en-US" sz="1300" dirty="0">
                <a:solidFill>
                  <a:srgbClr val="777777"/>
                </a:solidFill>
                <a:latin typeface="Calibri" pitchFamily="34" charset="0"/>
                <a:ea typeface="Calibri" pitchFamily="34" charset="-122"/>
                <a:cs typeface="Calibri" pitchFamily="34" charset="-120"/>
              </a:rPr>
              <a:t>Everything settled cannot reasonably be denied. These are the only things worth discussing.</a:t>
            </a:r>
            <a:endParaRPr lang="en-US" sz="1300" dirty="0"/>
          </a:p>
        </p:txBody>
      </p:sp>
      <p:sp>
        <p:nvSpPr>
          <p:cNvPr id="5" name="Text 3"/>
          <p:cNvSpPr/>
          <p:nvPr/>
        </p:nvSpPr>
        <p:spPr>
          <a:xfrm>
            <a:off x="731520" y="1828800"/>
            <a:ext cx="3657600" cy="2926080"/>
          </a:xfrm>
          <a:prstGeom prst="rect">
            <a:avLst/>
          </a:prstGeom>
          <a:noFill/>
          <a:ln/>
        </p:spPr>
        <p:txBody>
          <a:bodyPr wrap="square" lIns="0" tIns="0" rIns="0" bIns="0" rtlCol="0" anchor="t"/>
          <a:lstStyle/>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Regulation prevents labs from building profiles privately</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The reason labs don't is the lock-in cost</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The breathing room is large enough</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Alexandria can compound fast enough within it</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Non-lab giants won't move on unproven category</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Per-user calibration advantage matters</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The question is non-obvious enough</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Accumulated depth is genuinely valuable</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Lagging labs will buy access rather than build</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The larger the marketplace, the more attractive buying becomes</a:t>
            </a:r>
            <a:endParaRPr lang="en-US" sz="1100" dirty="0"/>
          </a:p>
        </p:txBody>
      </p:sp>
      <p:sp>
        <p:nvSpPr>
          <p:cNvPr id="6" name="Text 4"/>
          <p:cNvSpPr/>
          <p:nvPr/>
        </p:nvSpPr>
        <p:spPr>
          <a:xfrm>
            <a:off x="4754880" y="1828800"/>
            <a:ext cx="3657600" cy="2926080"/>
          </a:xfrm>
          <a:prstGeom prst="rect">
            <a:avLst/>
          </a:prstGeom>
          <a:noFill/>
          <a:ln/>
        </p:spPr>
        <p:txBody>
          <a:bodyPr wrap="square" lIns="0" tIns="0" rIns="0" bIns="0" rtlCol="0" anchor="t"/>
          <a:lstStyle/>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Enough people pay $5-10/mo for AI insurance</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The mental gym market materialises</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Labs will pay for Library access</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Most competing AI investments will be obsolete</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Founder's philosophical depth is an advantage</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Subscription and Library revenue reach meaningful scale</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Expected value across exit scenarios is favourable</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Most AI investments obsoleted by model releases</a:t>
            </a:r>
            <a:endParaRPr lang="en-US" sz="1100" dirty="0"/>
          </a:p>
          <a:p>
            <a:pPr indent="0" marL="0">
              <a:spcAft>
                <a:spcPts val="400"/>
              </a:spcAft>
              <a:buNone/>
            </a:pPr>
            <a:r>
              <a:rPr lang="en-US" sz="1100" dirty="0">
                <a:solidFill>
                  <a:srgbClr val="2B6CB0"/>
                </a:solidFill>
                <a:latin typeface="Calibri" pitchFamily="34" charset="0"/>
                <a:ea typeface="Calibri" pitchFamily="34" charset="-122"/>
                <a:cs typeface="Calibri" pitchFamily="34" charset="-120"/>
              </a:rPr>
              <a:t>The valuation trajectory holds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b"/>
          <a:lstStyle/>
          <a:p>
            <a:pPr algn="l" indent="0" marL="0">
              <a:buNone/>
            </a:pPr>
            <a:r>
              <a:rPr lang="en-US" sz="2800" dirty="0">
                <a:solidFill>
                  <a:srgbClr val="1A1A1A"/>
                </a:solidFill>
                <a:latin typeface="Georgia" pitchFamily="34" charset="0"/>
                <a:ea typeface="Georgia" pitchFamily="34" charset="-122"/>
                <a:cs typeface="Georgia" pitchFamily="34" charset="-120"/>
              </a:rPr>
              <a:t>Defensibility — honest</a:t>
            </a:r>
            <a:endParaRPr lang="en-US" sz="2800" dirty="0"/>
          </a:p>
        </p:txBody>
      </p:sp>
      <p:sp>
        <p:nvSpPr>
          <p:cNvPr id="3" name="Shape 1"/>
          <p:cNvSpPr/>
          <p:nvPr/>
        </p:nvSpPr>
        <p:spPr>
          <a:xfrm>
            <a:off x="731520" y="1097280"/>
            <a:ext cx="1828800" cy="0"/>
          </a:xfrm>
          <a:prstGeom prst="line">
            <a:avLst/>
          </a:prstGeom>
          <a:noFill/>
          <a:ln w="6350">
            <a:solidFill>
              <a:srgbClr val="999999"/>
            </a:solidFill>
            <a:prstDash val="solid"/>
          </a:ln>
        </p:spPr>
      </p:sp>
      <p:sp>
        <p:nvSpPr>
          <p:cNvPr id="4" name="Text 2"/>
          <p:cNvSpPr/>
          <p:nvPr/>
        </p:nvSpPr>
        <p:spPr>
          <a:xfrm>
            <a:off x="731520" y="1371600"/>
            <a:ext cx="7680960" cy="3200400"/>
          </a:xfrm>
          <a:prstGeom prst="rect">
            <a:avLst/>
          </a:prstGeom>
          <a:noFill/>
          <a:ln/>
        </p:spPr>
        <p:txBody>
          <a:bodyPr wrap="square" lIns="0" tIns="0" rIns="0" bIns="0" rtlCol="0" anchor="t"/>
          <a:lstStyle/>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No single traditional moat. Nothing is technically defensible.</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Three layers that together create a head start:</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1. Hidden implementation — extraction logic is server-side, invisible</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2. Per-user calibration — encrypted parameters compound per-Author</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3. Non-obvious question — the problem is not trivially obvious to identify</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None is a wall. Together they are a meaningful head start.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1097280"/>
            <a:ext cx="914400" cy="731520"/>
          </a:xfrm>
          <a:prstGeom prst="rect">
            <a:avLst/>
          </a:prstGeom>
          <a:noFill/>
          <a:ln/>
        </p:spPr>
        <p:txBody>
          <a:bodyPr wrap="square" lIns="0" tIns="0" rIns="0" bIns="0" rtlCol="0" anchor="b"/>
          <a:lstStyle/>
          <a:p>
            <a:pPr algn="l" indent="0" marL="0">
              <a:buNone/>
            </a:pPr>
            <a:r>
              <a:rPr lang="en-US" sz="1400" dirty="0">
                <a:solidFill>
                  <a:srgbClr val="999999"/>
                </a:solidFill>
                <a:latin typeface="Calibri" pitchFamily="34" charset="0"/>
                <a:ea typeface="Calibri" pitchFamily="34" charset="-122"/>
                <a:cs typeface="Calibri" pitchFamily="34" charset="-120"/>
              </a:rPr>
              <a:t>04</a:t>
            </a:r>
            <a:endParaRPr lang="en-US" sz="1400" dirty="0"/>
          </a:p>
        </p:txBody>
      </p:sp>
      <p:sp>
        <p:nvSpPr>
          <p:cNvPr id="3" name="Text 1"/>
          <p:cNvSpPr/>
          <p:nvPr/>
        </p:nvSpPr>
        <p:spPr>
          <a:xfrm>
            <a:off x="731520" y="1828800"/>
            <a:ext cx="7680960" cy="1097280"/>
          </a:xfrm>
          <a:prstGeom prst="rect">
            <a:avLst/>
          </a:prstGeom>
          <a:noFill/>
          <a:ln/>
        </p:spPr>
        <p:txBody>
          <a:bodyPr wrap="square" lIns="0" tIns="0" rIns="0" bIns="0" rtlCol="0" anchor="t"/>
          <a:lstStyle/>
          <a:p>
            <a:pPr algn="l" indent="0" marL="0">
              <a:buNone/>
            </a:pPr>
            <a:r>
              <a:rPr lang="en-US" sz="3600" dirty="0">
                <a:solidFill>
                  <a:srgbClr val="FFFFFF"/>
                </a:solidFill>
                <a:latin typeface="Georgia" pitchFamily="34" charset="0"/>
                <a:ea typeface="Georgia" pitchFamily="34" charset="-122"/>
                <a:cs typeface="Georgia" pitchFamily="34" charset="-120"/>
              </a:rPr>
              <a:t>The numbers</a:t>
            </a:r>
            <a:endParaRPr lang="en-US" sz="3600" dirty="0"/>
          </a:p>
        </p:txBody>
      </p:sp>
      <p:sp>
        <p:nvSpPr>
          <p:cNvPr id="4" name="Text 2"/>
          <p:cNvSpPr/>
          <p:nvPr/>
        </p:nvSpPr>
        <p:spPr>
          <a:xfrm>
            <a:off x="731520" y="4114800"/>
            <a:ext cx="7680960" cy="457200"/>
          </a:xfrm>
          <a:prstGeom prst="rect">
            <a:avLst/>
          </a:prstGeom>
          <a:noFill/>
          <a:ln/>
        </p:spPr>
        <p:txBody>
          <a:bodyPr wrap="square" lIns="0" tIns="0" rIns="0" bIns="0" rtlCol="0" anchor="b"/>
          <a:lstStyle/>
          <a:p>
            <a:pPr algn="l" indent="0" marL="0">
              <a:buNone/>
            </a:pPr>
            <a:r>
              <a:rPr lang="en-US" sz="1200" dirty="0">
                <a:solidFill>
                  <a:srgbClr val="999999"/>
                </a:solidFill>
                <a:latin typeface="Calibri" pitchFamily="34" charset="0"/>
                <a:ea typeface="Calibri" pitchFamily="34" charset="-122"/>
                <a:cs typeface="Calibri" pitchFamily="34" charset="-120"/>
              </a:rPr>
              <a:t>~5 minutes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b"/>
          <a:lstStyle/>
          <a:p>
            <a:pPr algn="l" indent="0" marL="0">
              <a:buNone/>
            </a:pPr>
            <a:r>
              <a:rPr lang="en-US" sz="2800" dirty="0">
                <a:solidFill>
                  <a:srgbClr val="1A1A1A"/>
                </a:solidFill>
                <a:latin typeface="Georgia" pitchFamily="34" charset="0"/>
                <a:ea typeface="Georgia" pitchFamily="34" charset="-122"/>
                <a:cs typeface="Georgia" pitchFamily="34" charset="-120"/>
              </a:rPr>
              <a:t>Financial model — key assumptions</a:t>
            </a:r>
            <a:endParaRPr lang="en-US" sz="2800" dirty="0"/>
          </a:p>
        </p:txBody>
      </p:sp>
      <p:sp>
        <p:nvSpPr>
          <p:cNvPr id="3" name="Shape 1"/>
          <p:cNvSpPr/>
          <p:nvPr/>
        </p:nvSpPr>
        <p:spPr>
          <a:xfrm>
            <a:off x="731520" y="1097280"/>
            <a:ext cx="1828800" cy="0"/>
          </a:xfrm>
          <a:prstGeom prst="line">
            <a:avLst/>
          </a:prstGeom>
          <a:noFill/>
          <a:ln w="6350">
            <a:solidFill>
              <a:srgbClr val="999999"/>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7680960" cy="914400"/>
        </p:xfrm>
        <a:graphic>
          <a:graphicData uri="http://schemas.openxmlformats.org/drawingml/2006/table">
            <a:tbl>
              <a:tblPr/>
              <a:tblGrid>
                <a:gridCol w="2286000"/>
                <a:gridCol w="1828800"/>
                <a:gridCol w="1828800"/>
                <a:gridCol w="1828800"/>
              </a:tblGrid>
              <a:tr h="320040">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5E0"/>
                    </a:solidFill>
                  </a:tcPr>
                </a:tc>
                <a:tc>
                  <a:txBody>
                    <a:bodyPr/>
                    <a:lstStyle/>
                    <a:p>
                      <a:pPr algn="r" indent="0" marL="0">
                        <a:buNone/>
                      </a:pPr>
                      <a:r>
                        <a:rPr lang="en-US" sz="1100" b="1" dirty="0">
                          <a:solidFill>
                            <a:srgbClr val="000000"/>
                          </a:solidFill>
                          <a:latin typeface="Calibri" pitchFamily="34" charset="0"/>
                          <a:ea typeface="Calibri" pitchFamily="34" charset="-122"/>
                          <a:cs typeface="Calibri" pitchFamily="34" charset="-120"/>
                        </a:rPr>
                        <a:t>Year 1</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5E0"/>
                    </a:solidFill>
                  </a:tcPr>
                </a:tc>
                <a:tc>
                  <a:txBody>
                    <a:bodyPr/>
                    <a:lstStyle/>
                    <a:p>
                      <a:pPr algn="r" indent="0" marL="0">
                        <a:buNone/>
                      </a:pPr>
                      <a:r>
                        <a:rPr lang="en-US" sz="1100" b="1" dirty="0">
                          <a:solidFill>
                            <a:srgbClr val="000000"/>
                          </a:solidFill>
                          <a:latin typeface="Calibri" pitchFamily="34" charset="0"/>
                          <a:ea typeface="Calibri" pitchFamily="34" charset="-122"/>
                          <a:cs typeface="Calibri" pitchFamily="34" charset="-120"/>
                        </a:rPr>
                        <a:t>Year 3</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5E0"/>
                    </a:solidFill>
                  </a:tcPr>
                </a:tc>
                <a:tc>
                  <a:txBody>
                    <a:bodyPr/>
                    <a:lstStyle/>
                    <a:p>
                      <a:pPr algn="r" indent="0" marL="0">
                        <a:buNone/>
                      </a:pPr>
                      <a:r>
                        <a:rPr lang="en-US" sz="1100" b="1" dirty="0">
                          <a:solidFill>
                            <a:srgbClr val="000000"/>
                          </a:solidFill>
                          <a:latin typeface="Calibri" pitchFamily="34" charset="0"/>
                          <a:ea typeface="Calibri" pitchFamily="34" charset="-122"/>
                          <a:cs typeface="Calibri" pitchFamily="34" charset="-120"/>
                        </a:rPr>
                        <a:t>Year 5</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E5E0"/>
                    </a:solidFill>
                  </a:tcPr>
                </a:tc>
              </a:tr>
              <a:tr h="3200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Revenue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$211K</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$1.3M</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$4.6M</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Costs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$81K</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$257K</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r" indent="0" marL="0">
                        <a:buNone/>
                      </a:pPr>
                      <a:r>
                        <a:rPr lang="en-US" sz="1100" dirty="0">
                          <a:solidFill>
                            <a:srgbClr val="000000"/>
                          </a:solidFill>
                          <a:latin typeface="Calibri" pitchFamily="34" charset="0"/>
                          <a:ea typeface="Calibri" pitchFamily="34" charset="-122"/>
                          <a:cs typeface="Calibri" pitchFamily="34" charset="-120"/>
                        </a:rPr>
                        <a:t>$460K</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00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Net income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rgbClr val="000000"/>
                          </a:solidFill>
                          <a:latin typeface="Calibri" pitchFamily="34" charset="0"/>
                          <a:ea typeface="Calibri" pitchFamily="34" charset="-122"/>
                          <a:cs typeface="Calibri" pitchFamily="34" charset="-120"/>
                        </a:rPr>
                        <a:t>$130K</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rgbClr val="000000"/>
                          </a:solidFill>
                          <a:latin typeface="Calibri" pitchFamily="34" charset="0"/>
                          <a:ea typeface="Calibri" pitchFamily="34" charset="-122"/>
                          <a:cs typeface="Calibri" pitchFamily="34" charset="-120"/>
                        </a:rPr>
                        <a:t>$1.1M</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rgbClr val="000000"/>
                          </a:solidFill>
                          <a:latin typeface="Calibri" pitchFamily="34" charset="0"/>
                          <a:ea typeface="Calibri" pitchFamily="34" charset="-122"/>
                          <a:cs typeface="Calibri" pitchFamily="34" charset="-120"/>
                        </a:rPr>
                        <a:t>$4.1M</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731520" y="3017520"/>
            <a:ext cx="7680960" cy="1828800"/>
          </a:xfrm>
          <a:prstGeom prst="rect">
            <a:avLst/>
          </a:prstGeom>
          <a:noFill/>
          <a:ln/>
        </p:spPr>
        <p:txBody>
          <a:bodyPr wrap="square" lIns="0" tIns="0" rIns="0" bIns="0" rtlCol="0" anchor="t"/>
          <a:lstStyle/>
          <a:p>
            <a:pPr indent="0" marL="0">
              <a:spcAft>
                <a:spcPts val="800"/>
              </a:spcAft>
              <a:buNone/>
            </a:pPr>
            <a:r>
              <a:rPr lang="en-US" sz="1400" b="1" dirty="0">
                <a:solidFill>
                  <a:srgbClr val="1A1A1A"/>
                </a:solidFill>
                <a:latin typeface="Calibri" pitchFamily="34" charset="0"/>
                <a:ea typeface="Calibri" pitchFamily="34" charset="-122"/>
                <a:cs typeface="Calibri" pitchFamily="34" charset="-120"/>
              </a:rPr>
              <a:t>Break-even: ~150 subscribers</a:t>
            </a:r>
            <a:endParaRPr lang="en-US" sz="1400" dirty="0"/>
          </a:p>
          <a:p>
            <a:pPr indent="0" marL="0">
              <a:spcAft>
                <a:spcPts val="800"/>
              </a:spcAft>
              <a:buNone/>
            </a:pPr>
            <a:r>
              <a:rPr lang="en-US" sz="1300" dirty="0">
                <a:solidFill>
                  <a:srgbClr val="777777"/>
                </a:solidFill>
                <a:latin typeface="Calibri" pitchFamily="34" charset="0"/>
                <a:ea typeface="Calibri" pitchFamily="34" charset="-122"/>
                <a:cs typeface="Calibri" pitchFamily="34" charset="-120"/>
              </a:rPr>
              <a:t>Monthly operating costs: $255 (before founder living costs)</a:t>
            </a:r>
            <a:endParaRPr lang="en-US" sz="1400" dirty="0"/>
          </a:p>
          <a:p>
            <a:pPr indent="0" marL="0">
              <a:spcAft>
                <a:spcPts val="800"/>
              </a:spcAft>
              <a:buNone/>
            </a:pPr>
            <a:r>
              <a:rPr lang="en-US" sz="1300" dirty="0">
                <a:solidFill>
                  <a:srgbClr val="777777"/>
                </a:solidFill>
                <a:latin typeface="Calibri" pitchFamily="34" charset="0"/>
                <a:ea typeface="Calibri" pitchFamily="34" charset="-122"/>
                <a:cs typeface="Calibri" pitchFamily="34" charset="-120"/>
              </a:rPr>
              <a:t>The returns look high because the cost base is near-zero.</a:t>
            </a:r>
            <a:endParaRPr lang="en-US" sz="1400" dirty="0"/>
          </a:p>
          <a:p>
            <a:pPr indent="0" marL="0">
              <a:buNone/>
            </a:pPr>
            <a:r>
              <a:rPr lang="en-US" sz="1300" dirty="0">
                <a:solidFill>
                  <a:srgbClr val="777777"/>
                </a:solidFill>
                <a:latin typeface="Calibri" pitchFamily="34" charset="0"/>
                <a:ea typeface="Calibri" pitchFamily="34" charset="-122"/>
                <a:cs typeface="Calibri" pitchFamily="34" charset="-120"/>
              </a:rPr>
              <a:t>Downside is not zero — it is a smaller win.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b"/>
          <a:lstStyle/>
          <a:p>
            <a:pPr algn="l" indent="0" marL="0">
              <a:buNone/>
            </a:pPr>
            <a:r>
              <a:rPr lang="en-US" sz="2800" dirty="0">
                <a:solidFill>
                  <a:srgbClr val="1A1A1A"/>
                </a:solidFill>
                <a:latin typeface="Georgia" pitchFamily="34" charset="0"/>
                <a:ea typeface="Georgia" pitchFamily="34" charset="-122"/>
                <a:cs typeface="Georgia" pitchFamily="34" charset="-120"/>
              </a:rPr>
              <a:t>Return on $500K at 20% equity</a:t>
            </a:r>
            <a:endParaRPr lang="en-US" sz="2800" dirty="0"/>
          </a:p>
        </p:txBody>
      </p:sp>
      <p:sp>
        <p:nvSpPr>
          <p:cNvPr id="3" name="Shape 1"/>
          <p:cNvSpPr/>
          <p:nvPr/>
        </p:nvSpPr>
        <p:spPr>
          <a:xfrm>
            <a:off x="731520" y="1097280"/>
            <a:ext cx="1828800" cy="0"/>
          </a:xfrm>
          <a:prstGeom prst="line">
            <a:avLst/>
          </a:prstGeom>
          <a:noFill/>
          <a:ln w="6350">
            <a:solidFill>
              <a:srgbClr val="999999"/>
            </a:solidFill>
            <a:prstDash val="solid"/>
          </a:ln>
        </p:spPr>
      </p:sp>
      <p:sp>
        <p:nvSpPr>
          <p:cNvPr id="4" name="Text 2"/>
          <p:cNvSpPr/>
          <p:nvPr/>
        </p:nvSpPr>
        <p:spPr>
          <a:xfrm>
            <a:off x="731520" y="1371600"/>
            <a:ext cx="7680960" cy="3200400"/>
          </a:xfrm>
          <a:prstGeom prst="rect">
            <a:avLst/>
          </a:prstGeom>
          <a:noFill/>
          <a:ln/>
        </p:spPr>
        <p:txBody>
          <a:bodyPr wrap="square" lIns="0" tIns="0" rIns="0" bIns="0" rtlCol="0" anchor="t"/>
          <a:lstStyle/>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10x ARR (SaaS floor):     ~$46M valuation  ·  18x MOM  ·  ~79% IRR</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15x ARR (SaaS + data):   ~$69M valuation  ·  27x MOM  ·  ~94% IRR</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20x ARR (strategic):        ~$92M valuation  ·  37x MOM  ·  ~106% IRR</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Half the base case: Y5 revenue ~$2.3M.  9x MOM.  Still profitable.</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The downside is a profitable business. The founder loves building it.</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There is no scenario where the investment goes to zero.</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1097280"/>
            <a:ext cx="914400" cy="731520"/>
          </a:xfrm>
          <a:prstGeom prst="rect">
            <a:avLst/>
          </a:prstGeom>
          <a:noFill/>
          <a:ln/>
        </p:spPr>
        <p:txBody>
          <a:bodyPr wrap="square" lIns="0" tIns="0" rIns="0" bIns="0" rtlCol="0" anchor="b"/>
          <a:lstStyle/>
          <a:p>
            <a:pPr algn="l" indent="0" marL="0">
              <a:buNone/>
            </a:pPr>
            <a:r>
              <a:rPr lang="en-US" sz="1400" dirty="0">
                <a:solidFill>
                  <a:srgbClr val="999999"/>
                </a:solidFill>
                <a:latin typeface="Calibri" pitchFamily="34" charset="0"/>
                <a:ea typeface="Calibri" pitchFamily="34" charset="-122"/>
                <a:cs typeface="Calibri" pitchFamily="34" charset="-120"/>
              </a:rPr>
              <a:t>05</a:t>
            </a:r>
            <a:endParaRPr lang="en-US" sz="1400" dirty="0"/>
          </a:p>
        </p:txBody>
      </p:sp>
      <p:sp>
        <p:nvSpPr>
          <p:cNvPr id="3" name="Text 1"/>
          <p:cNvSpPr/>
          <p:nvPr/>
        </p:nvSpPr>
        <p:spPr>
          <a:xfrm>
            <a:off x="731520" y="1828800"/>
            <a:ext cx="7680960" cy="1097280"/>
          </a:xfrm>
          <a:prstGeom prst="rect">
            <a:avLst/>
          </a:prstGeom>
          <a:noFill/>
          <a:ln/>
        </p:spPr>
        <p:txBody>
          <a:bodyPr wrap="square" lIns="0" tIns="0" rIns="0" bIns="0" rtlCol="0" anchor="t"/>
          <a:lstStyle/>
          <a:p>
            <a:pPr algn="l" indent="0" marL="0">
              <a:buNone/>
            </a:pPr>
            <a:r>
              <a:rPr lang="en-US" sz="3600" dirty="0">
                <a:solidFill>
                  <a:srgbClr val="FFFFFF"/>
                </a:solidFill>
                <a:latin typeface="Georgia" pitchFamily="34" charset="0"/>
                <a:ea typeface="Georgia" pitchFamily="34" charset="-122"/>
                <a:cs typeface="Georgia" pitchFamily="34" charset="-120"/>
              </a:rPr>
              <a:t>The founder</a:t>
            </a:r>
            <a:endParaRPr lang="en-US" sz="3600" dirty="0"/>
          </a:p>
        </p:txBody>
      </p:sp>
      <p:sp>
        <p:nvSpPr>
          <p:cNvPr id="4" name="Text 2"/>
          <p:cNvSpPr/>
          <p:nvPr/>
        </p:nvSpPr>
        <p:spPr>
          <a:xfrm>
            <a:off x="731520" y="4114800"/>
            <a:ext cx="7680960" cy="457200"/>
          </a:xfrm>
          <a:prstGeom prst="rect">
            <a:avLst/>
          </a:prstGeom>
          <a:noFill/>
          <a:ln/>
        </p:spPr>
        <p:txBody>
          <a:bodyPr wrap="square" lIns="0" tIns="0" rIns="0" bIns="0" rtlCol="0" anchor="b"/>
          <a:lstStyle/>
          <a:p>
            <a:pPr algn="l" indent="0" marL="0">
              <a:buNone/>
            </a:pPr>
            <a:r>
              <a:rPr lang="en-US" sz="1200" dirty="0">
                <a:solidFill>
                  <a:srgbClr val="999999"/>
                </a:solidFill>
                <a:latin typeface="Calibri" pitchFamily="34" charset="0"/>
                <a:ea typeface="Calibri" pitchFamily="34" charset="-122"/>
                <a:cs typeface="Calibri" pitchFamily="34" charset="-120"/>
              </a:rPr>
              <a:t>~5 minutes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b"/>
          <a:lstStyle/>
          <a:p>
            <a:pPr algn="l" indent="0" marL="0">
              <a:buNone/>
            </a:pPr>
            <a:r>
              <a:rPr lang="en-US" sz="2800" dirty="0">
                <a:solidFill>
                  <a:srgbClr val="1A1A1A"/>
                </a:solidFill>
                <a:latin typeface="Georgia" pitchFamily="34" charset="0"/>
                <a:ea typeface="Georgia" pitchFamily="34" charset="-122"/>
                <a:cs typeface="Georgia" pitchFamily="34" charset="-120"/>
              </a:rPr>
              <a:t>Benjamin Mowinckel</a:t>
            </a:r>
            <a:endParaRPr lang="en-US" sz="2800" dirty="0"/>
          </a:p>
        </p:txBody>
      </p:sp>
      <p:sp>
        <p:nvSpPr>
          <p:cNvPr id="3" name="Shape 1"/>
          <p:cNvSpPr/>
          <p:nvPr/>
        </p:nvSpPr>
        <p:spPr>
          <a:xfrm>
            <a:off x="731520" y="1097280"/>
            <a:ext cx="1828800" cy="0"/>
          </a:xfrm>
          <a:prstGeom prst="line">
            <a:avLst/>
          </a:prstGeom>
          <a:noFill/>
          <a:ln w="6350">
            <a:solidFill>
              <a:srgbClr val="999999"/>
            </a:solidFill>
            <a:prstDash val="solid"/>
          </a:ln>
        </p:spPr>
      </p:sp>
      <p:sp>
        <p:nvSpPr>
          <p:cNvPr id="4" name="Text 2"/>
          <p:cNvSpPr/>
          <p:nvPr/>
        </p:nvSpPr>
        <p:spPr>
          <a:xfrm>
            <a:off x="731520" y="1371600"/>
            <a:ext cx="7680960" cy="3200400"/>
          </a:xfrm>
          <a:prstGeom prst="rect">
            <a:avLst/>
          </a:prstGeom>
          <a:noFill/>
          <a:ln/>
        </p:spPr>
        <p:txBody>
          <a:bodyPr wrap="square" lIns="0" tIns="0" rIns="0" bIns="0" rtlCol="0" anchor="t"/>
          <a:lstStyle/>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No technical credentials. No track record.</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The hard part is not technical.</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The hard part is philosophical — seeing the problem, understanding what to build,</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knowing how to do the extraction well.</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The company itself is the proof of concept.</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Every employee is an AI agent. One human with clear intent, augmented.</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Previously: three years in venture capital.</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Left because the thesis demanded building, not funding.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1097280"/>
            <a:ext cx="914400" cy="731520"/>
          </a:xfrm>
          <a:prstGeom prst="rect">
            <a:avLst/>
          </a:prstGeom>
          <a:noFill/>
          <a:ln/>
        </p:spPr>
        <p:txBody>
          <a:bodyPr wrap="square" lIns="0" tIns="0" rIns="0" bIns="0" rtlCol="0" anchor="b"/>
          <a:lstStyle/>
          <a:p>
            <a:pPr algn="l" indent="0" marL="0">
              <a:buNone/>
            </a:pPr>
            <a:r>
              <a:rPr lang="en-US" sz="1400" dirty="0">
                <a:solidFill>
                  <a:srgbClr val="999999"/>
                </a:solidFill>
                <a:latin typeface="Calibri" pitchFamily="34" charset="0"/>
                <a:ea typeface="Calibri" pitchFamily="34" charset="-122"/>
                <a:cs typeface="Calibri" pitchFamily="34" charset="-120"/>
              </a:rPr>
              <a:t>06</a:t>
            </a:r>
            <a:endParaRPr lang="en-US" sz="1400" dirty="0"/>
          </a:p>
        </p:txBody>
      </p:sp>
      <p:sp>
        <p:nvSpPr>
          <p:cNvPr id="3" name="Text 1"/>
          <p:cNvSpPr/>
          <p:nvPr/>
        </p:nvSpPr>
        <p:spPr>
          <a:xfrm>
            <a:off x="731520" y="1828800"/>
            <a:ext cx="7680960" cy="1097280"/>
          </a:xfrm>
          <a:prstGeom prst="rect">
            <a:avLst/>
          </a:prstGeom>
          <a:noFill/>
          <a:ln/>
        </p:spPr>
        <p:txBody>
          <a:bodyPr wrap="square" lIns="0" tIns="0" rIns="0" bIns="0" rtlCol="0" anchor="t"/>
          <a:lstStyle/>
          <a:p>
            <a:pPr algn="l" indent="0" marL="0">
              <a:buNone/>
            </a:pPr>
            <a:r>
              <a:rPr lang="en-US" sz="3600" dirty="0">
                <a:solidFill>
                  <a:srgbClr val="FFFFFF"/>
                </a:solidFill>
                <a:latin typeface="Georgia" pitchFamily="34" charset="0"/>
                <a:ea typeface="Georgia" pitchFamily="34" charset="-122"/>
                <a:cs typeface="Georgia" pitchFamily="34" charset="-120"/>
              </a:rPr>
              <a:t>Why now</a:t>
            </a:r>
            <a:endParaRPr lang="en-US" sz="3600" dirty="0"/>
          </a:p>
        </p:txBody>
      </p:sp>
      <p:sp>
        <p:nvSpPr>
          <p:cNvPr id="4" name="Text 2"/>
          <p:cNvSpPr/>
          <p:nvPr/>
        </p:nvSpPr>
        <p:spPr>
          <a:xfrm>
            <a:off x="731520" y="4114800"/>
            <a:ext cx="7680960" cy="457200"/>
          </a:xfrm>
          <a:prstGeom prst="rect">
            <a:avLst/>
          </a:prstGeom>
          <a:noFill/>
          <a:ln/>
        </p:spPr>
        <p:txBody>
          <a:bodyPr wrap="square" lIns="0" tIns="0" rIns="0" bIns="0" rtlCol="0" anchor="b"/>
          <a:lstStyle/>
          <a:p>
            <a:pPr algn="l" indent="0" marL="0">
              <a:buNone/>
            </a:pPr>
            <a:r>
              <a:rPr lang="en-US" sz="1200" dirty="0">
                <a:solidFill>
                  <a:srgbClr val="999999"/>
                </a:solidFill>
                <a:latin typeface="Calibri" pitchFamily="34" charset="0"/>
                <a:ea typeface="Calibri" pitchFamily="34" charset="-122"/>
                <a:cs typeface="Calibri" pitchFamily="34" charset="-120"/>
              </a:rPr>
              <a:t>~3 minutes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b"/>
          <a:lstStyle/>
          <a:p>
            <a:pPr algn="l" indent="0" marL="0">
              <a:buNone/>
            </a:pPr>
            <a:r>
              <a:rPr lang="en-US" sz="2800" dirty="0">
                <a:solidFill>
                  <a:srgbClr val="1A1A1A"/>
                </a:solidFill>
                <a:latin typeface="Georgia" pitchFamily="34" charset="0"/>
                <a:ea typeface="Georgia" pitchFamily="34" charset="-122"/>
                <a:cs typeface="Georgia" pitchFamily="34" charset="-120"/>
              </a:rPr>
              <a:t>Uncovered category</a:t>
            </a:r>
            <a:endParaRPr lang="en-US" sz="2800" dirty="0"/>
          </a:p>
        </p:txBody>
      </p:sp>
      <p:sp>
        <p:nvSpPr>
          <p:cNvPr id="3" name="Shape 1"/>
          <p:cNvSpPr/>
          <p:nvPr/>
        </p:nvSpPr>
        <p:spPr>
          <a:xfrm>
            <a:off x="731520" y="1097280"/>
            <a:ext cx="1828800" cy="0"/>
          </a:xfrm>
          <a:prstGeom prst="line">
            <a:avLst/>
          </a:prstGeom>
          <a:noFill/>
          <a:ln w="6350">
            <a:solidFill>
              <a:srgbClr val="999999"/>
            </a:solidFill>
            <a:prstDash val="solid"/>
          </a:ln>
        </p:spPr>
      </p:sp>
      <p:sp>
        <p:nvSpPr>
          <p:cNvPr id="4" name="Text 2"/>
          <p:cNvSpPr/>
          <p:nvPr/>
        </p:nvSpPr>
        <p:spPr>
          <a:xfrm>
            <a:off x="731520" y="1371600"/>
            <a:ext cx="7680960" cy="3200400"/>
          </a:xfrm>
          <a:prstGeom prst="rect">
            <a:avLst/>
          </a:prstGeom>
          <a:noFill/>
          <a:ln/>
        </p:spPr>
        <p:txBody>
          <a:bodyPr wrap="square" lIns="0" tIns="0" rIns="0" bIns="0" rtlCol="0" anchor="t"/>
          <a:lstStyle/>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Every AI investor is spreading bets across crowded categories.</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Cognitive identity infrastructure has zero competitors.</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Most AI investments will be obsoleted by the next model release.</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Alexandria improves when the next model drops.</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The valuation is lowest now. The compounding has barely started.</a:t>
            </a: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Every month that passes, the dataset is larger and the price is higher.</a:t>
            </a:r>
            <a:endParaRPr lang="en-US" sz="1500" dirty="0"/>
          </a:p>
          <a:p>
            <a:pPr indent="0" marL="0">
              <a:spcAft>
                <a:spcPts val="1400"/>
              </a:spcAft>
              <a:buNone/>
            </a:pPr>
            <a:endParaRPr lang="en-US" sz="1500" dirty="0"/>
          </a:p>
          <a:p>
            <a:pPr indent="0" marL="0">
              <a:spcAft>
                <a:spcPts val="1400"/>
              </a:spcAft>
              <a:buNone/>
            </a:pPr>
            <a:r>
              <a:rPr lang="en-US" sz="1500" dirty="0">
                <a:solidFill>
                  <a:srgbClr val="1A1A1A"/>
                </a:solidFill>
                <a:latin typeface="Calibri" pitchFamily="34" charset="0"/>
                <a:ea typeface="Calibri" pitchFamily="34" charset="-122"/>
                <a:cs typeface="Calibri" pitchFamily="34" charset="-120"/>
              </a:rPr>
              <a:t>Limited spots. Small raise. Selective.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1371600"/>
            <a:ext cx="7680960" cy="1371600"/>
          </a:xfrm>
          <a:prstGeom prst="rect">
            <a:avLst/>
          </a:prstGeom>
          <a:noFill/>
          <a:ln/>
        </p:spPr>
        <p:txBody>
          <a:bodyPr wrap="square" lIns="0" tIns="0" rIns="0" bIns="0" rtlCol="0" anchor="b"/>
          <a:lstStyle/>
          <a:p>
            <a:pPr algn="l" indent="0" marL="0">
              <a:buNone/>
            </a:pPr>
            <a:r>
              <a:rPr lang="en-US" sz="4000" dirty="0">
                <a:solidFill>
                  <a:srgbClr val="FFFFFF"/>
                </a:solidFill>
                <a:latin typeface="Georgia" pitchFamily="34" charset="0"/>
                <a:ea typeface="Georgia" pitchFamily="34" charset="-122"/>
                <a:cs typeface="Georgia" pitchFamily="34" charset="-120"/>
              </a:rPr>
              <a:t>Discussion</a:t>
            </a:r>
            <a:endParaRPr lang="en-US" sz="4000" dirty="0"/>
          </a:p>
        </p:txBody>
      </p:sp>
      <p:sp>
        <p:nvSpPr>
          <p:cNvPr id="3" name="Text 1"/>
          <p:cNvSpPr/>
          <p:nvPr/>
        </p:nvSpPr>
        <p:spPr>
          <a:xfrm>
            <a:off x="731520" y="2926080"/>
            <a:ext cx="7680960" cy="914400"/>
          </a:xfrm>
          <a:prstGeom prst="rect">
            <a:avLst/>
          </a:prstGeom>
          <a:noFill/>
          <a:ln/>
        </p:spPr>
        <p:txBody>
          <a:bodyPr wrap="square" lIns="0" tIns="0" rIns="0" bIns="0" rtlCol="0" anchor="t"/>
          <a:lstStyle/>
          <a:p>
            <a:pPr algn="l" indent="0" marL="0">
              <a:buNone/>
            </a:pPr>
            <a:r>
              <a:rPr lang="en-US" sz="1600" dirty="0">
                <a:solidFill>
                  <a:srgbClr val="999999"/>
                </a:solidFill>
                <a:latin typeface="Calibri" pitchFamily="34" charset="0"/>
                <a:ea typeface="Calibri" pitchFamily="34" charset="-122"/>
                <a:cs typeface="Calibri" pitchFamily="34" charset="-120"/>
              </a:rPr>
              <a:t>What do you want to dig into?</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914400"/>
            <a:ext cx="7680960" cy="731520"/>
          </a:xfrm>
          <a:prstGeom prst="rect">
            <a:avLst/>
          </a:prstGeom>
          <a:noFill/>
          <a:ln/>
        </p:spPr>
        <p:txBody>
          <a:bodyPr wrap="square" lIns="0" tIns="0" rIns="0" bIns="0" rtlCol="0" anchor="b"/>
          <a:lstStyle/>
          <a:p>
            <a:pPr algn="l" indent="0" marL="0">
              <a:buNone/>
            </a:pPr>
            <a:r>
              <a:rPr lang="en-US" sz="3600" dirty="0">
                <a:solidFill>
                  <a:srgbClr val="FFFFFF"/>
                </a:solidFill>
                <a:latin typeface="Georgia" pitchFamily="34" charset="0"/>
                <a:ea typeface="Georgia" pitchFamily="34" charset="-122"/>
                <a:cs typeface="Georgia" pitchFamily="34" charset="-120"/>
              </a:rPr>
              <a:t>The ask</a:t>
            </a:r>
            <a:endParaRPr lang="en-US" sz="3600" dirty="0"/>
          </a:p>
        </p:txBody>
      </p:sp>
      <p:sp>
        <p:nvSpPr>
          <p:cNvPr id="3" name="Text 1"/>
          <p:cNvSpPr/>
          <p:nvPr/>
        </p:nvSpPr>
        <p:spPr>
          <a:xfrm>
            <a:off x="731520" y="2011680"/>
            <a:ext cx="7680960" cy="2286000"/>
          </a:xfrm>
          <a:prstGeom prst="rect">
            <a:avLst/>
          </a:prstGeom>
          <a:noFill/>
          <a:ln/>
        </p:spPr>
        <p:txBody>
          <a:bodyPr wrap="square" lIns="0" tIns="0" rIns="0" bIns="0" rtlCol="0" anchor="t"/>
          <a:lstStyle/>
          <a:p>
            <a:pPr indent="0" marL="0">
              <a:spcAft>
                <a:spcPts val="1600"/>
              </a:spcAft>
              <a:buNone/>
            </a:pPr>
            <a:r>
              <a:rPr lang="en-US" sz="2000" b="1" dirty="0">
                <a:solidFill>
                  <a:srgbClr val="FFFFFF"/>
                </a:solidFill>
                <a:latin typeface="Calibri" pitchFamily="34" charset="0"/>
                <a:ea typeface="Calibri" pitchFamily="34" charset="-122"/>
                <a:cs typeface="Calibri" pitchFamily="34" charset="-120"/>
              </a:rPr>
              <a:t>$500K at 20% equity.</a:t>
            </a:r>
            <a:endParaRPr lang="en-US" sz="2000" dirty="0"/>
          </a:p>
          <a:p>
            <a:pPr indent="0" marL="0">
              <a:spcAft>
                <a:spcPts val="800"/>
              </a:spcAft>
              <a:buNone/>
            </a:pPr>
            <a:r>
              <a:rPr lang="en-US" sz="1500" dirty="0">
                <a:solidFill>
                  <a:srgbClr val="999999"/>
                </a:solidFill>
                <a:latin typeface="Calibri" pitchFamily="34" charset="0"/>
                <a:ea typeface="Calibri" pitchFamily="34" charset="-122"/>
                <a:cs typeface="Calibri" pitchFamily="34" charset="-120"/>
              </a:rPr>
              <a:t>The money buys speed, not survival.</a:t>
            </a:r>
            <a:endParaRPr lang="en-US" sz="2000" dirty="0"/>
          </a:p>
          <a:p>
            <a:pPr indent="0" marL="0">
              <a:spcAft>
                <a:spcPts val="800"/>
              </a:spcAft>
              <a:buNone/>
            </a:pPr>
            <a:r>
              <a:rPr lang="en-US" sz="1500" dirty="0">
                <a:solidFill>
                  <a:srgbClr val="999999"/>
                </a:solidFill>
                <a:latin typeface="Calibri" pitchFamily="34" charset="0"/>
                <a:ea typeface="Calibri" pitchFamily="34" charset="-122"/>
                <a:cs typeface="Calibri" pitchFamily="34" charset="-120"/>
              </a:rPr>
              <a:t>The founder builds regardless.</a:t>
            </a:r>
            <a:endParaRPr lang="en-US" sz="2000" dirty="0"/>
          </a:p>
          <a:p>
            <a:pPr indent="0" marL="0">
              <a:buNone/>
            </a:pPr>
            <a:r>
              <a:rPr lang="en-US" sz="1500" dirty="0">
                <a:solidFill>
                  <a:srgbClr val="999999"/>
                </a:solidFill>
                <a:latin typeface="Calibri" pitchFamily="34" charset="0"/>
                <a:ea typeface="Calibri" pitchFamily="34" charset="-122"/>
                <a:cs typeface="Calibri" pitchFamily="34" charset="-120"/>
              </a:rPr>
              <a:t>Limited spots. Small raise. Selective.</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731520" y="1828800"/>
            <a:ext cx="7680960" cy="1371600"/>
          </a:xfrm>
          <a:prstGeom prst="rect">
            <a:avLst/>
          </a:prstGeom>
          <a:noFill/>
          <a:ln/>
        </p:spPr>
        <p:txBody>
          <a:bodyPr wrap="square" lIns="0" tIns="0" rIns="0" bIns="0" rtlCol="0" anchor="ctr"/>
          <a:lstStyle/>
          <a:p>
            <a:pPr algn="l" indent="0" marL="0">
              <a:buNone/>
            </a:pPr>
            <a:r>
              <a:rPr lang="en-US" sz="6000" dirty="0">
                <a:solidFill>
                  <a:srgbClr val="FFFFFF"/>
                </a:solidFill>
                <a:latin typeface="Georgia" pitchFamily="34" charset="0"/>
                <a:ea typeface="Georgia" pitchFamily="34" charset="-122"/>
                <a:cs typeface="Georgia" pitchFamily="34" charset="-120"/>
              </a:rPr>
              <a:t>a.</a:t>
            </a:r>
            <a:endParaRPr lang="en-US" sz="6000" dirty="0"/>
          </a:p>
        </p:txBody>
      </p:sp>
      <p:sp>
        <p:nvSpPr>
          <p:cNvPr id="3" name="Text 1"/>
          <p:cNvSpPr/>
          <p:nvPr/>
        </p:nvSpPr>
        <p:spPr>
          <a:xfrm>
            <a:off x="731520" y="3474720"/>
            <a:ext cx="7680960" cy="457200"/>
          </a:xfrm>
          <a:prstGeom prst="rect">
            <a:avLst/>
          </a:prstGeom>
          <a:noFill/>
          <a:ln/>
        </p:spPr>
        <p:txBody>
          <a:bodyPr wrap="square" lIns="0" tIns="0" rIns="0" bIns="0" rtlCol="0" anchor="t"/>
          <a:lstStyle/>
          <a:p>
            <a:pPr algn="l" indent="0" marL="0">
              <a:buNone/>
            </a:pPr>
            <a:r>
              <a:rPr lang="en-US" sz="1300" i="1" dirty="0">
                <a:solidFill>
                  <a:srgbClr val="999999"/>
                </a:solidFill>
                <a:latin typeface="Calibri" pitchFamily="34" charset="0"/>
                <a:ea typeface="Calibri" pitchFamily="34" charset="-122"/>
                <a:cs typeface="Calibri" pitchFamily="34" charset="-120"/>
              </a:rPr>
              <a:t>mentes aeternae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Alexandria — Investor Meeting</dc:title>
  <dc:subject>PptxGenJS Presentation</dc:subject>
  <dc:creator>Benjamin Mowinckel</dc:creator>
  <cp:lastModifiedBy>Benjamin Mowinckel</cp:lastModifiedBy>
  <cp:revision>1</cp:revision>
  <dcterms:created xsi:type="dcterms:W3CDTF">2026-03-13T12:46:40Z</dcterms:created>
  <dcterms:modified xsi:type="dcterms:W3CDTF">2026-03-13T12:46:40Z</dcterms:modified>
</cp:coreProperties>
</file>